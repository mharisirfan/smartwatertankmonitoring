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4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70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gif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2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9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309360" y="-640080"/>
            <a:ext cx="4206240" cy="4206240"/>
          </a:xfrm>
          <a:prstGeom prst="ellipse">
            <a:avLst/>
          </a:prstGeom>
          <a:solidFill>
            <a:srgbClr val="00B4D8">
              <a:alpha val="11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75120" y="-365760"/>
            <a:ext cx="3840480" cy="3840480"/>
          </a:xfrm>
          <a:prstGeom prst="ellipse">
            <a:avLst/>
          </a:prstGeom>
          <a:solidFill>
            <a:srgbClr val="00B4D8">
              <a:alpha val="10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0" y="-91440"/>
            <a:ext cx="3474720" cy="3474720"/>
          </a:xfrm>
          <a:prstGeom prst="ellipse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0" y="182880"/>
            <a:ext cx="3108960" cy="3108960"/>
          </a:xfrm>
          <a:prstGeom prst="ellipse">
            <a:avLst/>
          </a:prstGeom>
          <a:solidFill>
            <a:srgbClr val="00B4D8">
              <a:alpha val="8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73152" cy="73152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420624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0" y="1005840"/>
            <a:ext cx="64008" cy="64008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38160" y="4297680"/>
            <a:ext cx="45720" cy="4572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36576" cy="36576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778240" y="292608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502920"/>
            <a:ext cx="2286000" cy="292608"/>
          </a:xfrm>
          <a:prstGeom prst="rect">
            <a:avLst/>
          </a:prstGeom>
          <a:solidFill>
            <a:srgbClr val="00B4D8">
              <a:alpha val="20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502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Project • UT 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54864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Overflow Prevention System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48640" y="32461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Automated Water Management using ESP8266, Ultrasonic Sensors, MQTT &amp; Servo Automation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8404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499616" y="3840480"/>
            <a:ext cx="539496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499616" y="3840480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148840" y="38404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148840" y="38404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099816" y="384048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099816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849624" y="3840480"/>
            <a:ext cx="1042416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849624" y="384048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8640" y="452628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8640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86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Haris Irfan – Muhammad Zain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2331720"/>
          </a:xfrm>
          <a:prstGeom prst="rect">
            <a:avLst/>
          </a:prstGeom>
          <a:solidFill>
            <a:srgbClr val="E8F4F8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• Daily Water Routine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 fills the </a:t>
            </a:r>
            <a:r>
              <a:rPr lang="en-US" sz="125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tank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person manually switches the motor </a:t>
            </a: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waits for water to reach the rooftop tank, and turns it </a:t>
            </a: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after they see water overflowing from the pipe.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1920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54864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46304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2080" y="1444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3752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is the signal — water is already lost.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720840" y="1325880"/>
            <a:ext cx="1920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720840" y="1325880"/>
            <a:ext cx="54864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46304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1444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Dependency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885432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must remember to start and stop the motor.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09160" y="2514600"/>
            <a:ext cx="1920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09160" y="2514600"/>
            <a:ext cx="54864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26517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2633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Motors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73752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left running overnight is a common mistake.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20840" y="2514600"/>
            <a:ext cx="1920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720840" y="2514600"/>
            <a:ext cx="54864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265176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23760" y="2633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Overflow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885432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ideal operation ends in overflow by design.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57200" y="3822192"/>
            <a:ext cx="822960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57200" y="3822192"/>
            <a:ext cx="9144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050792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3444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“Even in the best-case scenario, </a:t>
            </a:r>
            <a:r>
              <a:rPr lang="en-US" sz="1600" b="1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water is already wasted water</a:t>
            </a:r>
            <a:r>
              <a:rPr lang="en-US" sz="16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Monitoring System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8046720" y="4864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D0641D8-90C7-7328-7E9C-8D3FD8BE43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129" y="1195923"/>
            <a:ext cx="6645475" cy="3624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Smart Water Tank System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Motor 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14400" y="1627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when water level falls low.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02536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Motor OFF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14400" y="2221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once target level is reached.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596896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Safety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914400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sensor catches faults.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191256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MQTT Feed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914400" y="3410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published in real-time.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85616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914400" y="4005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tank from phone or laptop.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4434840" y="1325880"/>
            <a:ext cx="4251960" cy="3337560"/>
          </a:xfrm>
          <a:prstGeom prst="rect">
            <a:avLst/>
          </a:prstGeom>
          <a:solidFill>
            <a:srgbClr val="E8F4F8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461772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4709160" y="1636776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1691640"/>
            <a:ext cx="246888" cy="2468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48072" y="16367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Tank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560820" y="1988820"/>
            <a:ext cx="0" cy="5943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7"/>
          <p:cNvSpPr/>
          <p:nvPr/>
        </p:nvSpPr>
        <p:spPr>
          <a:xfrm>
            <a:off x="4709160" y="2061972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2116836"/>
            <a:ext cx="246888" cy="2468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48072" y="20619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(Servo Sim.)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6560820" y="2414016"/>
            <a:ext cx="0" cy="5943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0"/>
          <p:cNvSpPr/>
          <p:nvPr/>
        </p:nvSpPr>
        <p:spPr>
          <a:xfrm>
            <a:off x="4709160" y="2487168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2542032"/>
            <a:ext cx="246888" cy="2468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48072" y="24871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Rooftop Tank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6560820" y="2839212"/>
            <a:ext cx="0" cy="5943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3"/>
          <p:cNvSpPr/>
          <p:nvPr/>
        </p:nvSpPr>
        <p:spPr>
          <a:xfrm>
            <a:off x="4709160" y="2912364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8888" y="2967228"/>
            <a:ext cx="246888" cy="24688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148072" y="29123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(Level + Overflow)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6560820" y="3264408"/>
            <a:ext cx="0" cy="5943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6"/>
          <p:cNvSpPr/>
          <p:nvPr/>
        </p:nvSpPr>
        <p:spPr>
          <a:xfrm>
            <a:off x="4709160" y="3337560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8888" y="3392424"/>
            <a:ext cx="246888" cy="24688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148072" y="3337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Controller</a:t>
            </a:r>
            <a:endParaRPr lang="en-US" sz="1100" dirty="0"/>
          </a:p>
        </p:txBody>
      </p:sp>
      <p:sp>
        <p:nvSpPr>
          <p:cNvPr id="40" name="Shape 28"/>
          <p:cNvSpPr/>
          <p:nvPr/>
        </p:nvSpPr>
        <p:spPr>
          <a:xfrm>
            <a:off x="6560820" y="3689604"/>
            <a:ext cx="0" cy="5943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9"/>
          <p:cNvSpPr/>
          <p:nvPr/>
        </p:nvSpPr>
        <p:spPr>
          <a:xfrm>
            <a:off x="4709160" y="3762756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8888" y="3817620"/>
            <a:ext cx="246888" cy="24688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148072" y="37627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100" dirty="0"/>
          </a:p>
        </p:txBody>
      </p:sp>
      <p:sp>
        <p:nvSpPr>
          <p:cNvPr id="44" name="Shape 31"/>
          <p:cNvSpPr/>
          <p:nvPr/>
        </p:nvSpPr>
        <p:spPr>
          <a:xfrm>
            <a:off x="6560820" y="4114800"/>
            <a:ext cx="0" cy="5943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2"/>
          <p:cNvSpPr/>
          <p:nvPr/>
        </p:nvSpPr>
        <p:spPr>
          <a:xfrm>
            <a:off x="4709160" y="4187952"/>
            <a:ext cx="3703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4242816"/>
            <a:ext cx="246888" cy="24688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148072" y="41879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Laptop UI</a:t>
            </a:r>
            <a:endParaRPr lang="en-US" sz="1100" dirty="0"/>
          </a:p>
        </p:txBody>
      </p:sp>
      <p:sp>
        <p:nvSpPr>
          <p:cNvPr id="48" name="Text 34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Monitoring System</a:t>
            </a:r>
            <a:endParaRPr lang="en-US" sz="850" dirty="0"/>
          </a:p>
        </p:txBody>
      </p:sp>
      <p:sp>
        <p:nvSpPr>
          <p:cNvPr id="49" name="Text 35"/>
          <p:cNvSpPr/>
          <p:nvPr/>
        </p:nvSpPr>
        <p:spPr>
          <a:xfrm>
            <a:off x="8046720" y="4864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14AF75B-5C62-05C7-1BDD-430041E481D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8934" b="13044"/>
          <a:stretch>
            <a:fillRect/>
          </a:stretch>
        </p:blipFill>
        <p:spPr>
          <a:xfrm>
            <a:off x="-190024" y="681799"/>
            <a:ext cx="9144000" cy="40130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8620" y="1371600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8620" y="1371600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7220" y="1645920"/>
            <a:ext cx="640080" cy="640080"/>
          </a:xfrm>
          <a:prstGeom prst="ellipse">
            <a:avLst/>
          </a:prstGeom>
          <a:solidFill>
            <a:srgbClr val="E8F4F8"/>
          </a:solidFill>
          <a:ln w="9525">
            <a:solidFill>
              <a:srgbClr val="CA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8740" y="16276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Wemos D1 Mini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48740" y="199339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controller — runs the logic and talks to MQTT.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23260" y="1371600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23260" y="1371600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51860" y="1645920"/>
            <a:ext cx="640080" cy="640080"/>
          </a:xfrm>
          <a:prstGeom prst="ellipse">
            <a:avLst/>
          </a:prstGeom>
          <a:solidFill>
            <a:srgbClr val="E8F4F8"/>
          </a:solidFill>
          <a:ln w="9525">
            <a:solidFill>
              <a:srgbClr val="CA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7830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83380" y="16276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Sensor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83380" y="199339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live water level inside the tank.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57900" y="1371600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57900" y="1371600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86500" y="1645920"/>
            <a:ext cx="640080" cy="640080"/>
          </a:xfrm>
          <a:prstGeom prst="ellipse">
            <a:avLst/>
          </a:prstGeom>
          <a:solidFill>
            <a:srgbClr val="E8F4F8"/>
          </a:solidFill>
          <a:ln w="9525">
            <a:solidFill>
              <a:srgbClr val="CA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7830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18020" y="16276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Sensor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018020" y="199339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overflow as an independent safety trigger.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88620" y="3063240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88620" y="3063240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17220" y="3337560"/>
            <a:ext cx="640080" cy="640080"/>
          </a:xfrm>
          <a:prstGeom prst="ellipse">
            <a:avLst/>
          </a:prstGeom>
          <a:solidFill>
            <a:srgbClr val="E8F4F8"/>
          </a:solidFill>
          <a:ln w="9525">
            <a:solidFill>
              <a:srgbClr val="CA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4747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48740" y="33192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348740" y="368503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the motor switch — ON / OFF actuator.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23260" y="3063240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223260" y="3063240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451860" y="3337560"/>
            <a:ext cx="640080" cy="640080"/>
          </a:xfrm>
          <a:prstGeom prst="ellipse">
            <a:avLst/>
          </a:prstGeom>
          <a:solidFill>
            <a:srgbClr val="E8F4F8"/>
          </a:solidFill>
          <a:ln w="9525">
            <a:solidFill>
              <a:srgbClr val="CA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020" y="347472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83380" y="33192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 Buzzer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183380" y="368503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alert when tank is FULL or overflowing.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057900" y="3063240"/>
            <a:ext cx="26974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057900" y="3063240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286500" y="3337560"/>
            <a:ext cx="640080" cy="640080"/>
          </a:xfrm>
          <a:prstGeom prst="ellipse">
            <a:avLst/>
          </a:prstGeom>
          <a:solidFill>
            <a:srgbClr val="E8F4F8"/>
          </a:solidFill>
          <a:ln w="9525">
            <a:solidFill>
              <a:srgbClr val="CA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60" y="347472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18020" y="33192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+ Wiring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7018020" y="368503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platform for all sensor connections.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Monitoring System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8046720" y="4864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WIRING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</a:t>
            </a:r>
            <a:endParaRPr lang="en-US" sz="3000" dirty="0"/>
          </a:p>
        </p:txBody>
      </p:sp>
      <p:sp>
        <p:nvSpPr>
          <p:cNvPr id="53" name="Shape 47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8"/>
          <p:cNvSpPr/>
          <p:nvPr/>
        </p:nvSpPr>
        <p:spPr>
          <a:xfrm>
            <a:off x="731520" y="4370832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9"/>
          <p:cNvSpPr/>
          <p:nvPr/>
        </p:nvSpPr>
        <p:spPr>
          <a:xfrm>
            <a:off x="91440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Line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2697480" y="4370832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/>
          <p:nvPr/>
        </p:nvSpPr>
        <p:spPr>
          <a:xfrm>
            <a:off x="288036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Power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4663440" y="4370832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/>
          <p:nvPr/>
        </p:nvSpPr>
        <p:spPr>
          <a:xfrm>
            <a:off x="48463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Power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6629400" y="4370832"/>
            <a:ext cx="137160" cy="1371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5"/>
          <p:cNvSpPr/>
          <p:nvPr/>
        </p:nvSpPr>
        <p:spPr>
          <a:xfrm>
            <a:off x="681228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000" dirty="0"/>
          </a:p>
        </p:txBody>
      </p:sp>
      <p:sp>
        <p:nvSpPr>
          <p:cNvPr id="62" name="Text 56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Monitoring System</a:t>
            </a:r>
            <a:endParaRPr lang="en-US" sz="850" dirty="0"/>
          </a:p>
        </p:txBody>
      </p:sp>
      <p:sp>
        <p:nvSpPr>
          <p:cNvPr id="63" name="Text 57"/>
          <p:cNvSpPr/>
          <p:nvPr/>
        </p:nvSpPr>
        <p:spPr>
          <a:xfrm>
            <a:off x="8046720" y="4864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5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DB0AC6A-7EFA-EC9D-494C-0C3C1F1DAC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45" b="15830"/>
          <a:stretch>
            <a:fillRect/>
          </a:stretch>
        </p:blipFill>
        <p:spPr>
          <a:xfrm>
            <a:off x="823460" y="1104853"/>
            <a:ext cx="7405640" cy="28560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ALGORITHM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Logic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3716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0060" y="1371600"/>
            <a:ext cx="594360" cy="36576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06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1463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" y="1828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Water Level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722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measures distance to water surface.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4388" y="2075688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68980" y="13716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68980" y="1371600"/>
            <a:ext cx="594360" cy="36576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6898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820" y="146304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06140" y="1828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Low? Motor 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0614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level below threshold, activate motor.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893308" y="2075688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57900" y="137160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057900" y="1371600"/>
            <a:ext cx="594360" cy="36576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057900" y="13716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740" y="146304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95060" y="1828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95060" y="2148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reading level while motor runs.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80060" y="31089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80060" y="3108960"/>
            <a:ext cx="594360" cy="36576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80060" y="31089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3200400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17220" y="35661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Reached → OFF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1722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motor when desired level is hit.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104388" y="3813048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268980" y="31089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3268980" y="3108960"/>
            <a:ext cx="594360" cy="36576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3268980" y="31089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7820" y="3200400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406140" y="35661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Detected?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340614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water sensor fires buzzer alert.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5893308" y="3813048"/>
            <a:ext cx="14630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6057900" y="310896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6057900" y="3108960"/>
            <a:ext cx="594360" cy="365760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6057900" y="31089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6740" y="3200400"/>
            <a:ext cx="292608" cy="29260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195060" y="3657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MQTT</a:t>
            </a:r>
            <a:b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 Dashboard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619506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live status to broker each cycle.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8206740" y="2743200"/>
            <a:ext cx="0" cy="39319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937260" y="2944368"/>
            <a:ext cx="7269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937260" y="2944368"/>
            <a:ext cx="0" cy="118872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Monitoring System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8046720" y="4864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09CF608-D1DA-0403-4D65-90AB1ADB3AF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20360"/>
          <a:stretch>
            <a:fillRect/>
          </a:stretch>
        </p:blipFill>
        <p:spPr>
          <a:xfrm>
            <a:off x="170629" y="708660"/>
            <a:ext cx="8863180" cy="3970496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BE32BBE-1E9C-9A1F-9418-4DC3F8DFCC68}"/>
              </a:ext>
            </a:extLst>
          </p:cNvPr>
          <p:cNvSpPr txBox="1"/>
          <p:nvPr/>
        </p:nvSpPr>
        <p:spPr>
          <a:xfrm>
            <a:off x="6652260" y="844034"/>
            <a:ext cx="21988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CONNECTIVITY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MQTT Monitoring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Telemetry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ESP8266 publishes tank state to an MQTT broker. Any subscriber — phone, laptop, or dashboard — receives instant updates.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18872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52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154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310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965960" y="2743200"/>
            <a:ext cx="1188720" cy="7772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28529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136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965960" y="32918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474720" y="2743200"/>
            <a:ext cx="1188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66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8529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74720" y="3154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474720" y="3310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1664208" y="3136392"/>
            <a:ext cx="28346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172968" y="3136392"/>
            <a:ext cx="28346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554480" y="33101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3063240" y="33101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7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94760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" y="38039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streamed every cycle — under one second latency.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937760" y="1371600"/>
            <a:ext cx="374904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66C2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937760" y="1371600"/>
            <a:ext cx="3749040" cy="329184"/>
          </a:xfrm>
          <a:prstGeom prst="rect">
            <a:avLst/>
          </a:prstGeom>
          <a:solidFill>
            <a:srgbClr val="001A2F"/>
          </a:solidFill>
          <a:ln w="12700">
            <a:solidFill>
              <a:srgbClr val="001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047488" y="147218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5212080" y="14721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5376672" y="1472184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577840" y="14264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mqtt://broker/tank/status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166360" y="18288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"water_level": </a:t>
            </a: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82,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"motor": </a:t>
            </a: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"OFF",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</a:t>
            </a: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"FULL",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"overflow": </a:t>
            </a: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4937760" y="4160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payload published to the MQTT topic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Monitoring System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8046720" y="4864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the live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1208" y="1828800"/>
            <a:ext cx="1417320" cy="1143000"/>
          </a:xfrm>
          <a:prstGeom prst="rect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03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10312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Water Level Detection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03120" y="2377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reports tank height as water fills.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69164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73168" y="1828800"/>
            <a:ext cx="1417320" cy="1143000"/>
          </a:xfrm>
          <a:prstGeom prst="rect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1031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73168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635508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Motor Control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55080" y="2377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angle changes as motor switches ON / OFF.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11480" y="329184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21208" y="3429000"/>
            <a:ext cx="1417320" cy="1143000"/>
          </a:xfrm>
          <a:prstGeom prst="rect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7033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" y="4251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210312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103120" y="3977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messages seen on dashboard refreshes with each new reading.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3291840"/>
            <a:ext cx="40690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73168" y="3429000"/>
            <a:ext cx="1417320" cy="1143000"/>
          </a:xfrm>
          <a:prstGeom prst="rect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370332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73168" y="4251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635508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 Output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355080" y="3977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stream shows every decision the MCU makes.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4845607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Monitoring System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8046720" y="4864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41732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8660" y="1645920"/>
            <a:ext cx="548640" cy="548640"/>
          </a:xfrm>
          <a:prstGeom prst="ellipse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7647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4460" y="1673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Relay Control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94460" y="198424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an actual AC motor in place of the servo.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68980" y="141732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97580" y="1645920"/>
            <a:ext cx="548640" cy="548640"/>
          </a:xfrm>
          <a:prstGeom prst="ellipse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452" y="17647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3380" y="1673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Mobile App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83380" y="198424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/ Android control and history.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57900" y="141732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86500" y="1645920"/>
            <a:ext cx="548640" cy="548640"/>
          </a:xfrm>
          <a:prstGeom prst="ellipse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372" y="17647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72300" y="1673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972300" y="198424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tank readings for long-term analytics.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80060" y="306324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08660" y="3291840"/>
            <a:ext cx="548640" cy="548640"/>
          </a:xfrm>
          <a:prstGeom prst="ellipse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" y="34107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94460" y="33192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394460" y="363016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tank is full, leaking, or empty.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68980" y="306324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497580" y="3291840"/>
            <a:ext cx="548640" cy="548640"/>
          </a:xfrm>
          <a:prstGeom prst="ellipse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6452" y="341071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83380" y="33192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Analytics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183380" y="363016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peak hours, leak detection patterns.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057900" y="306324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286500" y="3291840"/>
            <a:ext cx="548640" cy="548640"/>
          </a:xfrm>
          <a:prstGeom prst="ellipse">
            <a:avLst/>
          </a:prstGeom>
          <a:solidFill>
            <a:srgbClr val="E8F4F8"/>
          </a:solidFill>
          <a:ln w="9525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5372" y="341071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72300" y="33192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Node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972300" y="363016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deployment for rural installations.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Water Tank Monitoring System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046720" y="4864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6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0B4D8">
              <a:alpha val="10000"/>
            </a:srgbClr>
          </a:solidFill>
          <a:ln w="635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383280"/>
            <a:ext cx="5120640" cy="5120640"/>
          </a:xfrm>
          <a:prstGeom prst="ellipse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3108960"/>
            <a:ext cx="4754880" cy="4754880"/>
          </a:xfrm>
          <a:prstGeom prst="ellipse">
            <a:avLst/>
          </a:prstGeom>
          <a:solidFill>
            <a:srgbClr val="00B4D8">
              <a:alpha val="8000"/>
            </a:srgbClr>
          </a:solidFill>
          <a:ln w="635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457200" y="2834640"/>
            <a:ext cx="4389120" cy="4389120"/>
          </a:xfrm>
          <a:prstGeom prst="ellipse">
            <a:avLst/>
          </a:prstGeom>
          <a:solidFill>
            <a:srgbClr val="00B4D8">
              <a:alpha val="7000"/>
            </a:srgbClr>
          </a:solidFill>
          <a:ln w="635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0" y="548640"/>
            <a:ext cx="64008" cy="64008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55280" y="1280160"/>
            <a:ext cx="45720" cy="4572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438912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822960"/>
            <a:ext cx="45720" cy="45720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IoT systems,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4864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impact.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2606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project demonstrates how simple, low-cost IoT systems can solve real water management problems faced daily in developing countries.”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A66C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95928"/>
            <a:ext cx="283464" cy="28346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70432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Ready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70432" y="4142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solution for any rooftop tank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337560" y="3886200"/>
            <a:ext cx="502920" cy="502920"/>
          </a:xfrm>
          <a:prstGeom prst="ellipse">
            <a:avLst/>
          </a:prstGeom>
          <a:solidFill>
            <a:srgbClr val="0A66C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995928"/>
            <a:ext cx="283464" cy="2834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59352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Conservation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959352" y="4142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overflow, zero waste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26480" y="3886200"/>
            <a:ext cx="502920" cy="502920"/>
          </a:xfrm>
          <a:prstGeom prst="ellipse">
            <a:avLst/>
          </a:prstGeom>
          <a:solidFill>
            <a:srgbClr val="0A66C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3995928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48272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Sustainability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748272" y="4142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scalable, low-power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400800" y="2697480"/>
            <a:ext cx="21945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4008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64008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Haris Irfan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Zain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754</Words>
  <Application>Microsoft Office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Water Tank Monitoring &amp; Overflow Prevention System</dc:title>
  <dc:subject>IoT University Project</dc:subject>
  <dc:creator>Muhammad Haris Irfan</dc:creator>
  <cp:lastModifiedBy>Muhammad Haris Irfan</cp:lastModifiedBy>
  <cp:revision>3</cp:revision>
  <dcterms:created xsi:type="dcterms:W3CDTF">2026-05-25T19:15:43Z</dcterms:created>
  <dcterms:modified xsi:type="dcterms:W3CDTF">2026-05-26T01:31:24Z</dcterms:modified>
</cp:coreProperties>
</file>